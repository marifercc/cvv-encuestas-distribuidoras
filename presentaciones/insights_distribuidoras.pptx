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32373C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32373C"/>
                </a:solidFill>
                <a:latin typeface="Calibri"/>
              </a:rPr>
              <a:t>Calificación de la experiencia (P2)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Distribuidoras</c:v>
                </c:pt>
              </c:strCache>
            </c:strRef>
          </c:tx>
          <c:spPr>
            <a:solidFill>
              <a:srgbClr val="C9BED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237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BED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BED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BED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BED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4C5E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237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237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5F3FA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Competencia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4A3184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9BEDD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6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6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Sí usa competencia</c:v>
                </c:pt>
                <c:pt idx="1">
                  <c:v>No usa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54</c:v>
                </c:pt>
                <c:pt idx="1">
                  <c:v>6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32373C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2373C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32373C"/>
                </a:solidFill>
                <a:latin typeface="Calibri"/>
              </a:rPr>
              <a:t>% de respuestas por tono de sentimiento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Tono general (5 preguntas)</c:v>
                </c:pt>
              </c:strCache>
            </c:strRef>
          </c:tx>
          <c:spPr>
            <a:solidFill>
              <a:srgbClr val="C9BED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237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Positivo</c:v>
                  </c:pt>
                  <c:pt idx="1">
                    <c:v>Neutro</c:v>
                  </c:pt>
                  <c:pt idx="2">
                    <c:v>Negativo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59</c:v>
                </c:pt>
                <c:pt idx="1">
                  <c:v>20</c:v>
                </c:pt>
                <c:pt idx="2">
                  <c:v>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Tono específico en P1 (motivo)</c:v>
                </c:pt>
              </c:strCache>
            </c:strRef>
          </c:tx>
          <c:spPr>
            <a:solidFill>
              <a:srgbClr val="4A3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237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Positivo</c:v>
                  </c:pt>
                  <c:pt idx="1">
                    <c:v>Neutro</c:v>
                  </c:pt>
                  <c:pt idx="2">
                    <c:v>Negativo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</c:v>
                </c:pt>
                <c:pt idx="1">
                  <c:v>52</c:v>
                </c:pt>
                <c:pt idx="2">
                  <c:v>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3237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237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5F3FA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2373C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2373C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32373C"/>
                </a:solidFill>
                <a:latin typeface="Calibri"/>
              </a:rPr>
              <a:t>Tono por pregunta (n=64 cada una)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Positivo</c:v>
                </c:pt>
              </c:strCache>
            </c:strRef>
          </c:tx>
          <c:spPr>
            <a:solidFill>
              <a:srgbClr val="44C5E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P1 · Motivo</c:v>
                  </c:pt>
                  <c:pt idx="1">
                    <c:v>P2 · Área de mejora</c:v>
                  </c:pt>
                  <c:pt idx="2">
                    <c:v>P2 · Fortaleza</c:v>
                  </c:pt>
                  <c:pt idx="3">
                    <c:v>P3 · Competencia</c:v>
                  </c:pt>
                  <c:pt idx="4">
                    <c:v>P4 · Exclusividad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3</c:v>
                </c:pt>
                <c:pt idx="2">
                  <c:v>29</c:v>
                </c:pt>
                <c:pt idx="3">
                  <c:v>34</c:v>
                </c:pt>
                <c:pt idx="4">
                  <c:v>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Neutro</c:v>
                </c:pt>
              </c:strCache>
            </c:strRef>
          </c:tx>
          <c:spPr>
            <a:solidFill>
              <a:srgbClr val="C9BED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P1 · Motivo</c:v>
                  </c:pt>
                  <c:pt idx="1">
                    <c:v>P2 · Área de mejora</c:v>
                  </c:pt>
                  <c:pt idx="2">
                    <c:v>P2 · Fortaleza</c:v>
                  </c:pt>
                  <c:pt idx="3">
                    <c:v>P3 · Competencia</c:v>
                  </c:pt>
                  <c:pt idx="4">
                    <c:v>P4 · Exclusividad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</c:v>
                </c:pt>
                <c:pt idx="1">
                  <c:v>9</c:v>
                </c:pt>
                <c:pt idx="2">
                  <c:v>15</c:v>
                </c:pt>
                <c:pt idx="3">
                  <c:v>19</c:v>
                </c:pt>
                <c:pt idx="4">
                  <c:v>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Negativo</c:v>
                </c:pt>
              </c:strCache>
            </c:strRef>
          </c:tx>
          <c:spPr>
            <a:solidFill>
              <a:srgbClr val="4A3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P1 · Motivo</c:v>
                  </c:pt>
                  <c:pt idx="1">
                    <c:v>P2 · Área de mejora</c:v>
                  </c:pt>
                  <c:pt idx="2">
                    <c:v>P2 · Fortaleza</c:v>
                  </c:pt>
                  <c:pt idx="3">
                    <c:v>P3 · Competencia</c:v>
                  </c:pt>
                  <c:pt idx="4">
                    <c:v>P4 · Exclusividad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</c:v>
                </c:pt>
                <c:pt idx="1">
                  <c:v>5</c:v>
                </c:pt>
                <c:pt idx="2">
                  <c:v>1</c:v>
                </c:pt>
                <c:pt idx="3">
                  <c:v>0</c:v>
                </c:pt>
                <c:pt idx="4">
                  <c:v>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respuesta</c:v>
                </c:pt>
              </c:strCache>
            </c:strRef>
          </c:tx>
          <c:spPr>
            <a:solidFill>
              <a:srgbClr val="D2D2D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P1 · Motivo</c:v>
                  </c:pt>
                  <c:pt idx="1">
                    <c:v>P2 · Área de mejora</c:v>
                  </c:pt>
                  <c:pt idx="2">
                    <c:v>P2 · Fortaleza</c:v>
                  </c:pt>
                  <c:pt idx="3">
                    <c:v>P3 · Competencia</c:v>
                  </c:pt>
                  <c:pt idx="4">
                    <c:v>P4 · Exclusividad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</c:v>
                </c:pt>
                <c:pt idx="1">
                  <c:v>47</c:v>
                </c:pt>
                <c:pt idx="2">
                  <c:v>19</c:v>
                </c:pt>
                <c:pt idx="3">
                  <c:v>11</c:v>
                </c:pt>
                <c:pt idx="4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237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5F3FA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32373C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2373C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32373C"/>
                </a:solidFill>
                <a:latin typeface="Calibri"/>
              </a:rPr>
              <a:t>Distribuidoras de prioridad alta por región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Prioridad alta</c:v>
                </c:pt>
              </c:strCache>
            </c:strRef>
          </c:tx>
          <c:spPr>
            <a:solidFill>
              <a:srgbClr val="44C5E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237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4C5E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BED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BED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BED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BED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SUR</c:v>
                  </c:pt>
                  <c:pt idx="1">
                    <c:v>CHIHUAHUA</c:v>
                  </c:pt>
                  <c:pt idx="2">
                    <c:v>NORESTE</c:v>
                  </c:pt>
                  <c:pt idx="3">
                    <c:v>CENTRO</c:v>
                  </c:pt>
                  <c:pt idx="4">
                    <c:v>NORTE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</c:v>
                </c:pt>
                <c:pt idx="1">
                  <c:v>7</c:v>
                </c:pt>
                <c:pt idx="2">
                  <c:v>7</c:v>
                </c:pt>
                <c:pt idx="3">
                  <c:v>2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237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237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5F3FA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31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A3184"/>
          </a:solidFill>
          <a:ln/>
        </p:spPr>
      </p:sp>
      <p:pic>
        <p:nvPicPr>
          <p:cNvPr id="3" name="Image 0" descr="plane_icon_white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 rot="480000">
            <a:off x="-1005840" y="4206240"/>
            <a:ext cx="4754880" cy="4315968"/>
          </a:xfrm>
          <a:prstGeom prst="rect">
            <a:avLst/>
          </a:prstGeom>
        </p:spPr>
      </p:pic>
      <p:pic>
        <p:nvPicPr>
          <p:cNvPr id="4" name="Image 1" descr="logocre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286000" cy="64190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1874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4C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DE EXPERIENCIA COMERCIAL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28600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voz de las distribuidoras</a:t>
            </a:r>
            <a:endParaRPr lang="en-US" sz="4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4290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E4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hallazgos que cambian cómo leemos la satisfacción declarada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6035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respuestas efectivas  ·  377 intentos de llamada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086600" y="1417320"/>
            <a:ext cx="457200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1B1233">
                <a:alpha val="35000"/>
              </a:srgbClr>
            </a:outerShdw>
          </a:effectLst>
        </p:spPr>
      </p:sp>
      <p:pic>
        <p:nvPicPr>
          <p:cNvPr id="10" name="Image 2" descr="famil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600200"/>
            <a:ext cx="4206240" cy="263347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269480" y="4279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Distribuidoras y familias que crecen con la red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4C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LA SATISFACCIÓN NO SIGNIFICA ACTIVIDAD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A3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 contentas, pero no están colocando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0" b="1" dirty="0">
                <a:solidFill>
                  <a:srgbClr val="44C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74.6%</a:t>
            </a:r>
            <a:endParaRPr lang="en-US" sz="5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calificó su experiencia con 4 o 5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63 respuestas válidas (P2)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703320"/>
            <a:ext cx="3291840" cy="0"/>
          </a:xfrm>
          <a:prstGeom prst="line">
            <a:avLst/>
          </a:prstGeom>
          <a:noFill/>
          <a:ln w="12700">
            <a:solidFill>
              <a:srgbClr val="E9E6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9776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4A3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5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846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coloca vales porque no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clientes propios (P1)</a:t>
            </a:r>
            <a:endParaRPr lang="en-US" sz="1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0" y="1737360"/>
          <a:ext cx="70408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de Experiencia Comercial · CRECE CON VALES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4C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CASI NADIE ES EXCLUSIVO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A3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de cada 10 ya colocan con otra financiera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0" b="1" dirty="0">
                <a:solidFill>
                  <a:srgbClr val="44C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5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089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respuestas cerradas en P3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 también con la competencia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(54 de 60 válidas)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937760" y="155448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de Experiencia Comercial · CRECE CON VALES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4C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LA NOTA NO CUENTA TODA LA HISTORIA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A3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texto libre destapa una molestia que la calificación esconde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0" b="1" dirty="0">
                <a:solidFill>
                  <a:srgbClr val="44C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5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546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respuestas de P1 (¿por qué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colocas?) tiene un tono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abiertamente negativo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937760" y="1554480"/>
          <a:ext cx="66751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de Experiencia Comercial · CRECE CON VALES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4C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MIDE  ·  SECCIÓN 10 DEL ANÁLISIS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Segmentación de vocabulario por pregunta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3619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diccionario de palabras positivas y negativas en español, con manejo de negación, clasifica cada respuesta abierta.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4C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PALABRAS POSITIVAS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E3F6F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395728"/>
            <a:ext cx="758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444752" y="2395728"/>
            <a:ext cx="859536" cy="384048"/>
          </a:xfrm>
          <a:prstGeom prst="roundRect">
            <a:avLst>
              <a:gd name="adj" fmla="val 50000"/>
            </a:avLst>
          </a:prstGeom>
          <a:solidFill>
            <a:srgbClr val="E3F6F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44752" y="2395728"/>
            <a:ext cx="859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41448" y="2395728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E3F6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441448" y="2395728"/>
            <a:ext cx="758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apoyo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337560" y="2395728"/>
            <a:ext cx="1161288" cy="384048"/>
          </a:xfrm>
          <a:prstGeom prst="roundRect">
            <a:avLst>
              <a:gd name="adj" fmla="val 50000"/>
            </a:avLst>
          </a:prstGeom>
          <a:solidFill>
            <a:srgbClr val="E3F6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37560" y="2395728"/>
            <a:ext cx="1161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7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A3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PALABRAS NEGATIVAS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355848"/>
            <a:ext cx="557784" cy="384048"/>
          </a:xfrm>
          <a:prstGeom prst="roundRect">
            <a:avLst>
              <a:gd name="adj" fmla="val 50000"/>
            </a:avLst>
          </a:prstGeom>
          <a:solidFill>
            <a:srgbClr val="C9BED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355848"/>
            <a:ext cx="557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3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243584" y="3355848"/>
            <a:ext cx="1060704" cy="384048"/>
          </a:xfrm>
          <a:prstGeom prst="roundRect">
            <a:avLst>
              <a:gd name="adj" fmla="val 50000"/>
            </a:avLst>
          </a:prstGeom>
          <a:solidFill>
            <a:srgbClr val="C9BED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243584" y="3355848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3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441448" y="3355848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C9BED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441448" y="3355848"/>
            <a:ext cx="758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3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miedo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337560" y="3355848"/>
            <a:ext cx="859536" cy="384048"/>
          </a:xfrm>
          <a:prstGeom prst="roundRect">
            <a:avLst>
              <a:gd name="adj" fmla="val 50000"/>
            </a:avLst>
          </a:prstGeom>
          <a:solidFill>
            <a:srgbClr val="C9BED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337560" y="3355848"/>
            <a:ext cx="859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3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977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Negación: “no hay apoyo” cuenta como negativo, no positivo.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526280"/>
            <a:ext cx="4206240" cy="1600200"/>
          </a:xfrm>
          <a:prstGeom prst="roundRect">
            <a:avLst>
              <a:gd name="adj" fmla="val 5714"/>
            </a:avLst>
          </a:prstGeom>
          <a:solidFill>
            <a:srgbClr val="F5F3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2960" y="47091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A3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34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394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 abiertas evaluadas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pregunta, sin excepciones</a:t>
            </a:r>
            <a:endParaRPr lang="en-US" sz="12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5074920" y="1783080"/>
          <a:ext cx="65379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8" name="Text 2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de Experiencia Comercial · CRECE CON VALES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4C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ANTES DEL CONTENIDO, UN PROBLEMA DE CANAL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17 de cada 100 llamadas llegan a una respuesta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3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377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9601200" cy="594360"/>
          </a:xfrm>
          <a:prstGeom prst="rect">
            <a:avLst/>
          </a:prstGeom>
          <a:solidFill>
            <a:srgbClr val="C9BED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37744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3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Intentos de llamada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461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4C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3749040"/>
            <a:ext cx="1636776" cy="594360"/>
          </a:xfrm>
          <a:prstGeom prst="rect">
            <a:avLst/>
          </a:prstGeom>
          <a:solidFill>
            <a:srgbClr val="44C5E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468880" y="374904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efectivas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5720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A3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30352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efectividad de contacto — vale la pena revisar el canal (horarios, números, guion) antes que el contenido.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de Experiencia Comercial · CRECE CON VALES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4C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YA SABEMOS POR DÓNDE EMPEZAR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3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mitad de la base es prioridad alta, concentrada en el Sur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4A3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546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64 distribuidoras (32) son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alta de recontacto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794760"/>
            <a:ext cx="3291840" cy="0"/>
          </a:xfrm>
          <a:prstGeom prst="line">
            <a:avLst/>
          </a:prstGeom>
          <a:noFill/>
          <a:ln w="12700">
            <a:solidFill>
              <a:srgbClr val="E9E6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0690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44C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</a:t>
            </a:r>
            <a:endParaRPr lang="en-US" sz="5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937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prioridad alta (15 de 32)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concentra en la región Sur</a:t>
            </a:r>
            <a:endParaRPr lang="en-US" sz="1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846320" y="173736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de Experiencia Comercial · CRECE CON VALES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44C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HACER CON ESTO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A3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acciones concretas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148840"/>
          </a:xfrm>
          <a:prstGeom prst="roundRect">
            <a:avLst>
              <a:gd name="adj" fmla="val 5106"/>
            </a:avLst>
          </a:prstGeom>
          <a:solidFill>
            <a:srgbClr val="F5F3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40280"/>
            <a:ext cx="594360" cy="594360"/>
          </a:xfrm>
          <a:prstGeom prst="ellipse">
            <a:avLst/>
          </a:prstGeom>
          <a:solidFill>
            <a:srgbClr val="4A318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19456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3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clientes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97180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Acompañamiento comercial enfocado en conseguir clientela propia — la barrera #1 en P1.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920240"/>
            <a:ext cx="5349240" cy="2148840"/>
          </a:xfrm>
          <a:prstGeom prst="roundRect">
            <a:avLst>
              <a:gd name="adj" fmla="val 5106"/>
            </a:avLst>
          </a:prstGeom>
          <a:solidFill>
            <a:srgbClr val="F5F3FA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240280"/>
            <a:ext cx="594360" cy="594360"/>
          </a:xfrm>
          <a:prstGeom prst="ellipse">
            <a:avLst/>
          </a:prstGeom>
          <a:solidFill>
            <a:srgbClr val="4A318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19456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3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Igualar condiciones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97180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plazos, días de pago, comisiones y vales digitales frente a lo que ofrece la competencia.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5349240" cy="2148840"/>
          </a:xfrm>
          <a:prstGeom prst="roundRect">
            <a:avLst>
              <a:gd name="adj" fmla="val 5106"/>
            </a:avLst>
          </a:prstGeom>
          <a:solidFill>
            <a:srgbClr val="F5F3FA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4663440"/>
            <a:ext cx="594360" cy="594360"/>
          </a:xfrm>
          <a:prstGeom prst="ellipse">
            <a:avLst/>
          </a:prstGeom>
          <a:solidFill>
            <a:srgbClr val="4A318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6634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6177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3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Reforzar soporte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539496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presencia de gestoría, cobranza y seguimiento de coordinadores — el reclamo más citado.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4343400"/>
            <a:ext cx="5349240" cy="2148840"/>
          </a:xfrm>
          <a:prstGeom prst="roundRect">
            <a:avLst>
              <a:gd name="adj" fmla="val 5106"/>
            </a:avLst>
          </a:prstGeom>
          <a:solidFill>
            <a:srgbClr val="F5F3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4663440"/>
            <a:ext cx="594360" cy="594360"/>
          </a:xfrm>
          <a:prstGeom prst="ellipse">
            <a:avLst/>
          </a:prstGeom>
          <a:solidFill>
            <a:srgbClr val="4A318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37960" y="46634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0" y="46177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3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Recontactar por prioridad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539496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237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Empezar por las 32 de prioridad alta, con foco en la región Sur.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de Experiencia Comercial · CRECE CON VALES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118311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A31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lane_icon_white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 rot="-720000">
            <a:off x="8412480" y="-1371600"/>
            <a:ext cx="5029200" cy="4572000"/>
          </a:xfrm>
          <a:prstGeom prst="rect">
            <a:avLst/>
          </a:prstGeom>
        </p:spPr>
      </p:pic>
      <p:pic>
        <p:nvPicPr>
          <p:cNvPr id="3" name="Image 1" descr="logocre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286000" cy="641909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4C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FRASE</a:t>
            </a:r>
            <a:endParaRPr lang="en-US" sz="14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214884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distribuidoras dicen estar satisfechas,</a:t>
            </a:r>
            <a:endParaRPr lang="en-US" sz="3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el negocio no se está moviendo.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39776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4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iniciar el recontacto priorizado con las 32 distribuidoras de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4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 alta, empezando por la región Sur.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217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Encuesta de Experiencia Comercial DV · Análisis en notebooks/01_diagnostico_datos.ipynb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2026-09-22T01:27:15Z</dcterms:created>
  <dcterms:modified xsi:type="dcterms:W3CDTF">2026-09-22T01:27:15Z</dcterms:modified>
</cp:coreProperties>
</file>